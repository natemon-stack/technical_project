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Glacial Indifference Bold" charset="1" panose="00000800000000000000"/>
      <p:regular r:id="rId28"/>
    </p:embeddedFont>
    <p:embeddedFont>
      <p:font typeface="Glacial Indifference" charset="1" panose="000000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8.jpeg" Type="http://schemas.openxmlformats.org/officeDocument/2006/relationships/image"/><Relationship Id="rId4" Target="../media/image1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png" Type="http://schemas.openxmlformats.org/officeDocument/2006/relationships/image"/><Relationship Id="rId4" Target="../media/image4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svg" Type="http://schemas.openxmlformats.org/officeDocument/2006/relationships/image"/><Relationship Id="rId4" Target="../media/image45.gif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svg" Type="http://schemas.openxmlformats.org/officeDocument/2006/relationships/image"/><Relationship Id="rId4" Target="../media/image48.png" Type="http://schemas.openxmlformats.org/officeDocument/2006/relationships/image"/><Relationship Id="rId5" Target="../media/image49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83" t="0" r="-1548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7271" y="9495571"/>
            <a:ext cx="791429" cy="791429"/>
          </a:xfrm>
          <a:custGeom>
            <a:avLst/>
            <a:gdLst/>
            <a:ahLst/>
            <a:cxnLst/>
            <a:rect r="r" b="b" t="t" l="l"/>
            <a:pathLst>
              <a:path h="791429" w="791429">
                <a:moveTo>
                  <a:pt x="0" y="0"/>
                </a:moveTo>
                <a:lnTo>
                  <a:pt x="791429" y="0"/>
                </a:lnTo>
                <a:lnTo>
                  <a:pt x="791429" y="791429"/>
                </a:lnTo>
                <a:lnTo>
                  <a:pt x="0" y="7914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51409" y="9578362"/>
            <a:ext cx="1509719" cy="625847"/>
          </a:xfrm>
          <a:custGeom>
            <a:avLst/>
            <a:gdLst/>
            <a:ahLst/>
            <a:cxnLst/>
            <a:rect r="r" b="b" t="t" l="l"/>
            <a:pathLst>
              <a:path h="625847" w="1509719">
                <a:moveTo>
                  <a:pt x="0" y="0"/>
                </a:moveTo>
                <a:lnTo>
                  <a:pt x="1509720" y="0"/>
                </a:lnTo>
                <a:lnTo>
                  <a:pt x="1509720" y="625847"/>
                </a:lnTo>
                <a:lnTo>
                  <a:pt x="0" y="6258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85689" y="283644"/>
            <a:ext cx="3348444" cy="2214117"/>
          </a:xfrm>
          <a:custGeom>
            <a:avLst/>
            <a:gdLst/>
            <a:ahLst/>
            <a:cxnLst/>
            <a:rect r="r" b="b" t="t" l="l"/>
            <a:pathLst>
              <a:path h="2214117" w="3348444">
                <a:moveTo>
                  <a:pt x="0" y="0"/>
                </a:moveTo>
                <a:lnTo>
                  <a:pt x="3348443" y="0"/>
                </a:lnTo>
                <a:lnTo>
                  <a:pt x="3348443" y="2214118"/>
                </a:lnTo>
                <a:lnTo>
                  <a:pt x="0" y="22141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5870" y="112194"/>
            <a:ext cx="9692176" cy="298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26"/>
              </a:lnSpc>
            </a:pPr>
            <a:r>
              <a:rPr lang="en-US" sz="8519" b="tru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Game </a:t>
            </a:r>
            <a:r>
              <a:rPr lang="en-US" sz="8519" b="true">
                <a:solidFill>
                  <a:srgbClr val="5170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Performace</a:t>
            </a:r>
            <a:r>
              <a:rPr lang="en-US" sz="8519" b="tru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Web Application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5870" y="4374757"/>
            <a:ext cx="7366892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By TaeJhan Albertson and Nathan Montoute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5870" y="3364961"/>
            <a:ext cx="5007052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PC Upgrade Advisor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26254" y="348615"/>
            <a:ext cx="3348633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Agenda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26254" y="1839644"/>
            <a:ext cx="9572065" cy="7665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9995" indent="-409997" lvl="1">
              <a:lnSpc>
                <a:spcPts val="6076"/>
              </a:lnSpc>
              <a:buFont typeface="Arial"/>
              <a:buChar char="•"/>
            </a:pPr>
            <a:r>
              <a:rPr lang="en-US" sz="379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Intr</a:t>
            </a:r>
            <a:r>
              <a:rPr lang="en-US" sz="379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oduction</a:t>
            </a:r>
          </a:p>
          <a:p>
            <a:pPr algn="l" marL="819995" indent="-409997" lvl="1">
              <a:lnSpc>
                <a:spcPts val="6076"/>
              </a:lnSpc>
              <a:buFont typeface="Arial"/>
              <a:buChar char="•"/>
            </a:pPr>
            <a:r>
              <a:rPr lang="en-US" sz="379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Problem Statement</a:t>
            </a:r>
          </a:p>
          <a:p>
            <a:pPr algn="l" marL="819995" indent="-409997" lvl="1">
              <a:lnSpc>
                <a:spcPts val="6076"/>
              </a:lnSpc>
              <a:buFont typeface="Arial"/>
              <a:buChar char="•"/>
            </a:pPr>
            <a:r>
              <a:rPr lang="en-US" sz="379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Objectives</a:t>
            </a:r>
          </a:p>
          <a:p>
            <a:pPr algn="l" marL="819995" indent="-409997" lvl="1">
              <a:lnSpc>
                <a:spcPts val="6076"/>
              </a:lnSpc>
              <a:buFont typeface="Arial"/>
              <a:buChar char="•"/>
            </a:pPr>
            <a:r>
              <a:rPr lang="en-US" sz="379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Existing Systems vs Our System</a:t>
            </a:r>
          </a:p>
          <a:p>
            <a:pPr algn="l" marL="819995" indent="-409997" lvl="1">
              <a:lnSpc>
                <a:spcPts val="6076"/>
              </a:lnSpc>
              <a:buFont typeface="Arial"/>
              <a:buChar char="•"/>
            </a:pPr>
            <a:r>
              <a:rPr lang="en-US" sz="379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Technologies Used</a:t>
            </a:r>
          </a:p>
          <a:p>
            <a:pPr algn="l" marL="819995" indent="-409997" lvl="1">
              <a:lnSpc>
                <a:spcPts val="6076"/>
              </a:lnSpc>
              <a:buFont typeface="Arial"/>
              <a:buChar char="•"/>
            </a:pPr>
            <a:r>
              <a:rPr lang="en-US" sz="379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Development Methodology</a:t>
            </a:r>
          </a:p>
          <a:p>
            <a:pPr algn="l" marL="819995" indent="-409997" lvl="1">
              <a:lnSpc>
                <a:spcPts val="6076"/>
              </a:lnSpc>
              <a:buFont typeface="Arial"/>
              <a:buChar char="•"/>
            </a:pPr>
            <a:r>
              <a:rPr lang="en-US" sz="379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Database Design</a:t>
            </a:r>
          </a:p>
          <a:p>
            <a:pPr algn="l" marL="819995" indent="-409997" lvl="1">
              <a:lnSpc>
                <a:spcPts val="6076"/>
              </a:lnSpc>
              <a:buFont typeface="Arial"/>
              <a:buChar char="•"/>
            </a:pPr>
            <a:r>
              <a:rPr lang="en-US" sz="379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Main Features</a:t>
            </a:r>
          </a:p>
          <a:p>
            <a:pPr algn="l" marL="819995" indent="-409997" lvl="1">
              <a:lnSpc>
                <a:spcPts val="6076"/>
              </a:lnSpc>
              <a:buFont typeface="Arial"/>
              <a:buChar char="•"/>
            </a:pPr>
            <a:r>
              <a:rPr lang="en-US" sz="379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Security Features</a:t>
            </a:r>
          </a:p>
          <a:p>
            <a:pPr algn="l" marL="819995" indent="-409997" lvl="1">
              <a:lnSpc>
                <a:spcPts val="6076"/>
              </a:lnSpc>
              <a:buFont typeface="Arial"/>
              <a:buChar char="•"/>
            </a:pPr>
            <a:r>
              <a:rPr lang="en-US" sz="379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Challenges and Solutions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902288" y="1906319"/>
            <a:ext cx="5117306" cy="331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9" indent="-410209" lvl="1">
              <a:lnSpc>
                <a:spcPts val="5319"/>
              </a:lnSpc>
              <a:spcBef>
                <a:spcPct val="0"/>
              </a:spcBef>
              <a:buFont typeface="Arial"/>
              <a:buChar char="•"/>
            </a:pPr>
            <a:r>
              <a:rPr lang="en-US" sz="37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Live Dem</a:t>
            </a:r>
            <a:r>
              <a:rPr lang="en-US" sz="37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onstration</a:t>
            </a:r>
          </a:p>
          <a:p>
            <a:pPr algn="l" marL="820419" indent="-410209" lvl="1">
              <a:lnSpc>
                <a:spcPts val="5319"/>
              </a:lnSpc>
              <a:spcBef>
                <a:spcPct val="0"/>
              </a:spcBef>
              <a:buFont typeface="Arial"/>
              <a:buChar char="•"/>
            </a:pPr>
            <a:r>
              <a:rPr lang="en-US" sz="37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Future </a:t>
            </a:r>
            <a:r>
              <a:rPr lang="en-US" sz="37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Improvements</a:t>
            </a:r>
          </a:p>
          <a:p>
            <a:pPr algn="l" marL="820419" indent="-410209" lvl="1">
              <a:lnSpc>
                <a:spcPts val="5319"/>
              </a:lnSpc>
              <a:spcBef>
                <a:spcPct val="0"/>
              </a:spcBef>
              <a:buFont typeface="Arial"/>
              <a:buChar char="•"/>
            </a:pPr>
            <a:r>
              <a:rPr lang="en-US" sz="37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Conclusion</a:t>
            </a:r>
          </a:p>
          <a:p>
            <a:pPr algn="l" marL="820419" indent="-410209" lvl="1">
              <a:lnSpc>
                <a:spcPts val="5319"/>
              </a:lnSpc>
              <a:spcBef>
                <a:spcPct val="0"/>
              </a:spcBef>
              <a:buFont typeface="Arial"/>
              <a:buChar char="•"/>
            </a:pPr>
            <a:r>
              <a:rPr lang="en-US" sz="37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Questions</a:t>
            </a:r>
          </a:p>
          <a:p>
            <a:pPr algn="l">
              <a:lnSpc>
                <a:spcPts val="531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90306" y="5754111"/>
            <a:ext cx="2025257" cy="2025257"/>
            <a:chOff x="0" y="0"/>
            <a:chExt cx="13716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2500" r="0" b="-125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88532" y="7444351"/>
            <a:ext cx="2045708" cy="2045708"/>
            <a:chOff x="0" y="0"/>
            <a:chExt cx="13716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3"/>
              <a:stretch>
                <a:fillRect l="-25000" t="0" r="-2500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2178356"/>
            <a:ext cx="11360348" cy="4588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9" indent="-410209" lvl="1">
              <a:lnSpc>
                <a:spcPts val="6079"/>
              </a:lnSpc>
              <a:buFont typeface="Arial"/>
              <a:buChar char="•"/>
            </a:pPr>
            <a:r>
              <a:rPr lang="en-US" sz="37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PC gaming is bec</a:t>
            </a:r>
            <a:r>
              <a:rPr lang="en-US" sz="37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oming more popular</a:t>
            </a:r>
          </a:p>
          <a:p>
            <a:pPr algn="l" marL="820419" indent="-410209" lvl="1">
              <a:lnSpc>
                <a:spcPts val="6079"/>
              </a:lnSpc>
              <a:buFont typeface="Arial"/>
              <a:buChar char="•"/>
            </a:pPr>
            <a:r>
              <a:rPr lang="en-US" sz="37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Many users do not understand gaming hardware</a:t>
            </a:r>
          </a:p>
          <a:p>
            <a:pPr algn="l" marL="820419" indent="-410209" lvl="1">
              <a:lnSpc>
                <a:spcPts val="6079"/>
              </a:lnSpc>
              <a:buFont typeface="Arial"/>
              <a:buChar char="•"/>
            </a:pPr>
            <a:r>
              <a:rPr lang="en-US" sz="37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CPU, GPU and RAM affect performance</a:t>
            </a:r>
          </a:p>
          <a:p>
            <a:pPr algn="l" marL="820419" indent="-410209" lvl="1">
              <a:lnSpc>
                <a:spcPts val="6079"/>
              </a:lnSpc>
              <a:buFont typeface="Arial"/>
              <a:buChar char="•"/>
            </a:pPr>
            <a:r>
              <a:rPr lang="en-US" sz="37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Users may overspend or buy weak hardware</a:t>
            </a:r>
          </a:p>
          <a:p>
            <a:pPr algn="l" marL="820419" indent="-410209" lvl="1">
              <a:lnSpc>
                <a:spcPts val="6079"/>
              </a:lnSpc>
              <a:buFont typeface="Arial"/>
              <a:buChar char="•"/>
            </a:pPr>
            <a:r>
              <a:rPr lang="en-US" sz="37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Our system simplifies gaming performance analysis</a:t>
            </a:r>
          </a:p>
          <a:p>
            <a:pPr algn="l">
              <a:lnSpc>
                <a:spcPts val="623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63730" y="348615"/>
            <a:ext cx="5134451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Introduction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4708984" y="4029077"/>
            <a:ext cx="2025257" cy="2025257"/>
            <a:chOff x="0" y="0"/>
            <a:chExt cx="13716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4"/>
              <a:stretch>
                <a:fillRect l="-16666" t="0" r="-16666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00307" y="7569397"/>
            <a:ext cx="2914490" cy="2040143"/>
            <a:chOff x="0" y="0"/>
            <a:chExt cx="6350000" cy="4445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4445000"/>
            </a:xfrm>
            <a:custGeom>
              <a:avLst/>
              <a:gdLst/>
              <a:ahLst/>
              <a:cxnLst/>
              <a:rect r="r" b="b" t="t" l="l"/>
              <a:pathLst>
                <a:path h="4445000" w="6350000">
                  <a:moveTo>
                    <a:pt x="0" y="3429000"/>
                  </a:moveTo>
                  <a:lnTo>
                    <a:pt x="0" y="1016000"/>
                  </a:lnTo>
                  <a:cubicBezTo>
                    <a:pt x="0" y="454660"/>
                    <a:pt x="454660" y="0"/>
                    <a:pt x="1016000" y="0"/>
                  </a:cubicBezTo>
                  <a:lnTo>
                    <a:pt x="5334000" y="0"/>
                  </a:lnTo>
                  <a:cubicBezTo>
                    <a:pt x="5895340" y="0"/>
                    <a:pt x="6350000" y="454660"/>
                    <a:pt x="6350000" y="1016000"/>
                  </a:cubicBezTo>
                  <a:lnTo>
                    <a:pt x="6350000" y="3429000"/>
                  </a:lnTo>
                  <a:cubicBezTo>
                    <a:pt x="6350000" y="3990340"/>
                    <a:pt x="5895340" y="4445000"/>
                    <a:pt x="5334000" y="4445000"/>
                  </a:cubicBezTo>
                  <a:lnTo>
                    <a:pt x="1016000" y="4445000"/>
                  </a:lnTo>
                  <a:cubicBezTo>
                    <a:pt x="454660" y="4445000"/>
                    <a:pt x="0" y="3990340"/>
                    <a:pt x="0" y="3429000"/>
                  </a:cubicBezTo>
                  <a:close/>
                </a:path>
              </a:pathLst>
            </a:custGeom>
            <a:blipFill>
              <a:blip r:embed="rId2"/>
              <a:stretch>
                <a:fillRect l="-2532" t="0" r="-253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458842" y="4610291"/>
            <a:ext cx="1972738" cy="2959106"/>
            <a:chOff x="0" y="0"/>
            <a:chExt cx="6350000" cy="9525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9525000"/>
            </a:xfrm>
            <a:custGeom>
              <a:avLst/>
              <a:gdLst/>
              <a:ahLst/>
              <a:cxnLst/>
              <a:rect r="r" b="b" t="t" l="l"/>
              <a:pathLst>
                <a:path h="9525000" w="6350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3"/>
              <a:stretch>
                <a:fillRect l="0" t="-697" r="0" b="-69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2239744"/>
            <a:ext cx="13994726" cy="4578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2" indent="-410211" lvl="1">
              <a:lnSpc>
                <a:spcPts val="608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Many PC users struggle to understand </a:t>
            </a:r>
            <a:r>
              <a:rPr lang="en-US" b="true" sz="38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hardware performance</a:t>
            </a:r>
          </a:p>
          <a:p>
            <a:pPr algn="l" marL="820422" indent="-410211" lvl="1">
              <a:lnSpc>
                <a:spcPts val="608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CPU, GPU and RAM are difficult to compare</a:t>
            </a:r>
          </a:p>
          <a:p>
            <a:pPr algn="l" marL="820422" indent="-410211" lvl="1">
              <a:lnSpc>
                <a:spcPts val="608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Existing tools only show requirements or benchmarks</a:t>
            </a:r>
          </a:p>
          <a:p>
            <a:pPr algn="l" marL="820422" indent="-410211" lvl="1">
              <a:lnSpc>
                <a:spcPts val="608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Users make poor </a:t>
            </a:r>
            <a:r>
              <a:rPr lang="en-US" b="true" sz="38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upgrade decisions</a:t>
            </a:r>
          </a:p>
          <a:p>
            <a:pPr algn="l" marL="820422" indent="-410211" lvl="1">
              <a:lnSpc>
                <a:spcPts val="608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This leads to wasted money and poor performance</a:t>
            </a:r>
          </a:p>
          <a:p>
            <a:pPr algn="l">
              <a:lnSpc>
                <a:spcPts val="608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30638" y="348615"/>
            <a:ext cx="8120896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Problem Statement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84089" y="3795456"/>
            <a:ext cx="2696088" cy="2696088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5080000" y="6350000"/>
                  </a:moveTo>
                  <a:lnTo>
                    <a:pt x="1270000" y="6350000"/>
                  </a:lnTo>
                  <a:cubicBezTo>
                    <a:pt x="568960" y="6350000"/>
                    <a:pt x="0" y="5781040"/>
                    <a:pt x="0" y="5080000"/>
                  </a:cubicBezTo>
                  <a:lnTo>
                    <a:pt x="0" y="1270000"/>
                  </a:lnTo>
                  <a:cubicBezTo>
                    <a:pt x="0" y="568960"/>
                    <a:pt x="568960" y="0"/>
                    <a:pt x="1270000" y="0"/>
                  </a:cubicBezTo>
                  <a:lnTo>
                    <a:pt x="5080000" y="0"/>
                  </a:lnTo>
                  <a:cubicBezTo>
                    <a:pt x="5781040" y="0"/>
                    <a:pt x="6350000" y="568960"/>
                    <a:pt x="6350000" y="1270000"/>
                  </a:cubicBezTo>
                  <a:lnTo>
                    <a:pt x="6350000" y="5080000"/>
                  </a:lnTo>
                  <a:cubicBezTo>
                    <a:pt x="6350000" y="5781040"/>
                    <a:pt x="5781040" y="6350000"/>
                    <a:pt x="50800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5331" t="0" r="-533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3679148" y="1553756"/>
            <a:ext cx="2396248" cy="2348323"/>
          </a:xfrm>
          <a:custGeom>
            <a:avLst/>
            <a:gdLst/>
            <a:ahLst/>
            <a:cxnLst/>
            <a:rect r="r" b="b" t="t" l="l"/>
            <a:pathLst>
              <a:path h="2348323" w="2396248">
                <a:moveTo>
                  <a:pt x="0" y="0"/>
                </a:moveTo>
                <a:lnTo>
                  <a:pt x="2396248" y="0"/>
                </a:lnTo>
                <a:lnTo>
                  <a:pt x="2396248" y="2348324"/>
                </a:lnTo>
                <a:lnTo>
                  <a:pt x="0" y="23483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679148" y="6763036"/>
            <a:ext cx="2257549" cy="2278260"/>
          </a:xfrm>
          <a:custGeom>
            <a:avLst/>
            <a:gdLst/>
            <a:ahLst/>
            <a:cxnLst/>
            <a:rect r="r" b="b" t="t" l="l"/>
            <a:pathLst>
              <a:path h="2278260" w="2257549">
                <a:moveTo>
                  <a:pt x="0" y="0"/>
                </a:moveTo>
                <a:lnTo>
                  <a:pt x="2257549" y="0"/>
                </a:lnTo>
                <a:lnTo>
                  <a:pt x="2257549" y="2278260"/>
                </a:lnTo>
                <a:lnTo>
                  <a:pt x="0" y="22782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208294"/>
            <a:ext cx="10009109" cy="5293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2" indent="-410211" lvl="1">
              <a:lnSpc>
                <a:spcPts val="608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All</a:t>
            </a:r>
            <a:r>
              <a:rPr lang="en-US" sz="3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ow users to input hardware specifications</a:t>
            </a:r>
          </a:p>
          <a:p>
            <a:pPr algn="l" marL="820422" indent="-410211" lvl="1">
              <a:lnSpc>
                <a:spcPts val="608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Compare hardware with game requirements</a:t>
            </a:r>
          </a:p>
          <a:p>
            <a:pPr algn="l" marL="820422" indent="-410211" lvl="1">
              <a:lnSpc>
                <a:spcPts val="608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Analyze gaming performance</a:t>
            </a:r>
          </a:p>
          <a:p>
            <a:pPr algn="l" marL="820422" indent="-410211" lvl="1">
              <a:lnSpc>
                <a:spcPts val="608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Detect system bottlenecks</a:t>
            </a:r>
          </a:p>
          <a:p>
            <a:pPr algn="l" marL="820422" indent="-410211" lvl="1">
              <a:lnSpc>
                <a:spcPts val="608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Provide upgrade recommendations</a:t>
            </a:r>
          </a:p>
          <a:p>
            <a:pPr algn="l" marL="820422" indent="-410211" lvl="1">
              <a:lnSpc>
                <a:spcPts val="608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Improve user decision-making</a:t>
            </a:r>
          </a:p>
          <a:p>
            <a:pPr algn="ctr">
              <a:lnSpc>
                <a:spcPts val="532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53749" y="348615"/>
            <a:ext cx="4561046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Objectives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2812832" y="2470694"/>
            <a:ext cx="4981414" cy="5767252"/>
            <a:chOff x="0" y="0"/>
            <a:chExt cx="4749800" cy="5499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498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4749800">
                  <a:moveTo>
                    <a:pt x="0" y="0"/>
                  </a:moveTo>
                  <a:lnTo>
                    <a:pt x="4749800" y="0"/>
                  </a:lnTo>
                  <a:lnTo>
                    <a:pt x="4749800" y="1905000"/>
                  </a:lnTo>
                  <a:lnTo>
                    <a:pt x="0" y="1905000"/>
                  </a:lnTo>
                  <a:close/>
                </a:path>
              </a:pathLst>
            </a:custGeom>
            <a:blipFill>
              <a:blip r:embed="rId2"/>
              <a:stretch>
                <a:fillRect l="0" t="-19813" r="0" b="-19813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1854200"/>
              <a:ext cx="4749800" cy="2425700"/>
            </a:xfrm>
            <a:custGeom>
              <a:avLst/>
              <a:gdLst/>
              <a:ahLst/>
              <a:cxnLst/>
              <a:rect r="r" b="b" t="t" l="l"/>
              <a:pathLst>
                <a:path h="2425700" w="4749800">
                  <a:moveTo>
                    <a:pt x="0" y="0"/>
                  </a:moveTo>
                  <a:lnTo>
                    <a:pt x="4749800" y="0"/>
                  </a:lnTo>
                  <a:lnTo>
                    <a:pt x="4749800" y="2425700"/>
                  </a:lnTo>
                  <a:lnTo>
                    <a:pt x="0" y="2425700"/>
                  </a:lnTo>
                  <a:close/>
                </a:path>
              </a:pathLst>
            </a:custGeom>
            <a:blipFill>
              <a:blip r:embed="rId3"/>
              <a:stretch>
                <a:fillRect l="-157" t="0" r="-157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4006850"/>
              <a:ext cx="4748530" cy="1492250"/>
            </a:xfrm>
            <a:custGeom>
              <a:avLst/>
              <a:gdLst/>
              <a:ahLst/>
              <a:cxnLst/>
              <a:rect r="r" b="b" t="t" l="l"/>
              <a:pathLst>
                <a:path h="1492250" w="4748530">
                  <a:moveTo>
                    <a:pt x="4748530" y="1492250"/>
                  </a:moveTo>
                  <a:lnTo>
                    <a:pt x="0" y="1492250"/>
                  </a:lnTo>
                  <a:lnTo>
                    <a:pt x="0" y="254000"/>
                  </a:lnTo>
                  <a:lnTo>
                    <a:pt x="2620010" y="254000"/>
                  </a:lnTo>
                  <a:lnTo>
                    <a:pt x="2607310" y="0"/>
                  </a:lnTo>
                  <a:lnTo>
                    <a:pt x="4748530" y="0"/>
                  </a:lnTo>
                  <a:close/>
                </a:path>
              </a:pathLst>
            </a:custGeom>
            <a:blipFill>
              <a:blip r:embed="rId4"/>
              <a:stretch>
                <a:fillRect l="0" t="-55368" r="0" b="-55368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559081" y="348615"/>
            <a:ext cx="13830508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Existin</a:t>
            </a:r>
            <a:r>
              <a:rPr lang="en-US" b="true" sz="72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 Systems vs Our System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267367"/>
            <a:ext cx="8520351" cy="331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Existing Systems</a:t>
            </a:r>
          </a:p>
          <a:p>
            <a:pPr algn="l" marL="820419" indent="-410209" lvl="1">
              <a:lnSpc>
                <a:spcPts val="5319"/>
              </a:lnSpc>
              <a:spcBef>
                <a:spcPct val="0"/>
              </a:spcBef>
              <a:buFont typeface="Arial"/>
              <a:buChar char="•"/>
            </a:pPr>
            <a:r>
              <a:rPr lang="en-US" sz="37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UserBenchma</a:t>
            </a:r>
            <a:r>
              <a:rPr lang="en-US" sz="37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rk — benchmarking</a:t>
            </a:r>
          </a:p>
          <a:p>
            <a:pPr algn="l" marL="820419" indent="-410209" lvl="1">
              <a:lnSpc>
                <a:spcPts val="5319"/>
              </a:lnSpc>
              <a:spcBef>
                <a:spcPct val="0"/>
              </a:spcBef>
              <a:buFont typeface="Arial"/>
              <a:buChar char="•"/>
            </a:pPr>
            <a:r>
              <a:rPr lang="en-US" sz="37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PCPartPicker — PC building</a:t>
            </a:r>
          </a:p>
          <a:p>
            <a:pPr algn="l" marL="820419" indent="-410209" lvl="1">
              <a:lnSpc>
                <a:spcPts val="5319"/>
              </a:lnSpc>
              <a:spcBef>
                <a:spcPct val="0"/>
              </a:spcBef>
              <a:buFont typeface="Arial"/>
              <a:buChar char="•"/>
            </a:pPr>
            <a:r>
              <a:rPr lang="en-US" sz="37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Can You RUN It — game requirements</a:t>
            </a:r>
          </a:p>
          <a:p>
            <a:pPr algn="ctr">
              <a:lnSpc>
                <a:spcPts val="531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278120"/>
            <a:ext cx="9979700" cy="3980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Our System</a:t>
            </a:r>
          </a:p>
          <a:p>
            <a:pPr algn="l" marL="820419" indent="-410209" lvl="1">
              <a:lnSpc>
                <a:spcPts val="5319"/>
              </a:lnSpc>
              <a:spcBef>
                <a:spcPct val="0"/>
              </a:spcBef>
              <a:buFont typeface="Arial"/>
              <a:buChar char="•"/>
            </a:pPr>
            <a:r>
              <a:rPr lang="en-US" sz="37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Combine</a:t>
            </a:r>
            <a:r>
              <a:rPr lang="en-US" sz="37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 benchma</a:t>
            </a:r>
            <a:r>
              <a:rPr lang="en-US" sz="37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rks + game requirements</a:t>
            </a:r>
          </a:p>
          <a:p>
            <a:pPr algn="l" marL="820419" indent="-410209" lvl="1">
              <a:lnSpc>
                <a:spcPts val="5319"/>
              </a:lnSpc>
              <a:spcBef>
                <a:spcPct val="0"/>
              </a:spcBef>
              <a:buFont typeface="Arial"/>
              <a:buChar char="•"/>
            </a:pPr>
            <a:r>
              <a:rPr lang="en-US" sz="37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Provides personalized analysis</a:t>
            </a:r>
          </a:p>
          <a:p>
            <a:pPr algn="l" marL="820419" indent="-410209" lvl="1">
              <a:lnSpc>
                <a:spcPts val="5319"/>
              </a:lnSpc>
              <a:spcBef>
                <a:spcPct val="0"/>
              </a:spcBef>
              <a:buFont typeface="Arial"/>
              <a:buChar char="•"/>
            </a:pPr>
            <a:r>
              <a:rPr lang="en-US" sz="37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Gives</a:t>
            </a:r>
            <a:r>
              <a:rPr lang="en-US" sz="37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upgrade recommendations</a:t>
            </a:r>
          </a:p>
          <a:p>
            <a:pPr algn="l" marL="820419" indent="-410209" lvl="1">
              <a:lnSpc>
                <a:spcPts val="5319"/>
              </a:lnSpc>
              <a:spcBef>
                <a:spcPct val="0"/>
              </a:spcBef>
              <a:buFont typeface="Arial"/>
              <a:buChar char="•"/>
            </a:pPr>
            <a:r>
              <a:rPr lang="en-US" sz="37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Beginner-friendly interface</a:t>
            </a:r>
          </a:p>
          <a:p>
            <a:pPr algn="ctr">
              <a:lnSpc>
                <a:spcPts val="531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82081" y="1985395"/>
            <a:ext cx="3299471" cy="2632494"/>
          </a:xfrm>
          <a:custGeom>
            <a:avLst/>
            <a:gdLst/>
            <a:ahLst/>
            <a:cxnLst/>
            <a:rect r="r" b="b" t="t" l="l"/>
            <a:pathLst>
              <a:path h="2632494" w="3299471">
                <a:moveTo>
                  <a:pt x="0" y="0"/>
                </a:moveTo>
                <a:lnTo>
                  <a:pt x="3299471" y="0"/>
                </a:lnTo>
                <a:lnTo>
                  <a:pt x="3299471" y="2632494"/>
                </a:lnTo>
                <a:lnTo>
                  <a:pt x="0" y="26324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03956" y="6457344"/>
            <a:ext cx="3498373" cy="3498373"/>
          </a:xfrm>
          <a:custGeom>
            <a:avLst/>
            <a:gdLst/>
            <a:ahLst/>
            <a:cxnLst/>
            <a:rect r="r" b="b" t="t" l="l"/>
            <a:pathLst>
              <a:path h="3498373" w="3498373">
                <a:moveTo>
                  <a:pt x="0" y="0"/>
                </a:moveTo>
                <a:lnTo>
                  <a:pt x="3498373" y="0"/>
                </a:lnTo>
                <a:lnTo>
                  <a:pt x="3498373" y="3498373"/>
                </a:lnTo>
                <a:lnTo>
                  <a:pt x="0" y="34983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21750" y="3784458"/>
            <a:ext cx="3980579" cy="2147854"/>
          </a:xfrm>
          <a:custGeom>
            <a:avLst/>
            <a:gdLst/>
            <a:ahLst/>
            <a:cxnLst/>
            <a:rect r="r" b="b" t="t" l="l"/>
            <a:pathLst>
              <a:path h="2147854" w="3980579">
                <a:moveTo>
                  <a:pt x="0" y="0"/>
                </a:moveTo>
                <a:lnTo>
                  <a:pt x="3980579" y="0"/>
                </a:lnTo>
                <a:lnTo>
                  <a:pt x="3980579" y="2147854"/>
                </a:lnTo>
                <a:lnTo>
                  <a:pt x="0" y="21478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555559" y="5503128"/>
            <a:ext cx="3425993" cy="1772065"/>
          </a:xfrm>
          <a:custGeom>
            <a:avLst/>
            <a:gdLst/>
            <a:ahLst/>
            <a:cxnLst/>
            <a:rect r="r" b="b" t="t" l="l"/>
            <a:pathLst>
              <a:path h="1772065" w="3425993">
                <a:moveTo>
                  <a:pt x="0" y="0"/>
                </a:moveTo>
                <a:lnTo>
                  <a:pt x="3425993" y="0"/>
                </a:lnTo>
                <a:lnTo>
                  <a:pt x="3425993" y="1772065"/>
                </a:lnTo>
                <a:lnTo>
                  <a:pt x="0" y="17720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57146" y="348615"/>
            <a:ext cx="8015645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Technologies Used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099418"/>
            <a:ext cx="6540341" cy="843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80"/>
              </a:lnSpc>
            </a:pPr>
            <a:r>
              <a:rPr lang="en-US" b="true" sz="38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Fr</a:t>
            </a:r>
            <a:r>
              <a:rPr lang="en-US" b="true" sz="38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ontend</a:t>
            </a:r>
          </a:p>
          <a:p>
            <a:pPr algn="just" marL="820422" indent="-410211" lvl="1">
              <a:lnSpc>
                <a:spcPts val="608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HTML</a:t>
            </a:r>
            <a:r>
              <a:rPr lang="en-US" sz="3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- Page Structure</a:t>
            </a:r>
          </a:p>
          <a:p>
            <a:pPr algn="just" marL="820422" indent="-410211" lvl="1">
              <a:lnSpc>
                <a:spcPts val="608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CSS - Styling </a:t>
            </a:r>
          </a:p>
          <a:p>
            <a:pPr algn="just" marL="820422" indent="-410211" lvl="1">
              <a:lnSpc>
                <a:spcPts val="608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JavaScript - Interactivity</a:t>
            </a:r>
          </a:p>
          <a:p>
            <a:pPr algn="just">
              <a:lnSpc>
                <a:spcPts val="6080"/>
              </a:lnSpc>
            </a:pPr>
            <a:r>
              <a:rPr lang="en-US" b="true" sz="38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Backend</a:t>
            </a:r>
          </a:p>
          <a:p>
            <a:pPr algn="just" marL="820422" indent="-410211" lvl="1">
              <a:lnSpc>
                <a:spcPts val="608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PHP - Backend Processing</a:t>
            </a:r>
          </a:p>
          <a:p>
            <a:pPr algn="just">
              <a:lnSpc>
                <a:spcPts val="6080"/>
              </a:lnSpc>
            </a:pPr>
            <a:r>
              <a:rPr lang="en-US" b="true" sz="38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Database</a:t>
            </a:r>
          </a:p>
          <a:p>
            <a:pPr algn="just" marL="820422" indent="-410211" lvl="1">
              <a:lnSpc>
                <a:spcPts val="608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MySQL - Database Storage</a:t>
            </a:r>
          </a:p>
          <a:p>
            <a:pPr algn="just">
              <a:lnSpc>
                <a:spcPts val="6080"/>
              </a:lnSpc>
            </a:pPr>
            <a:r>
              <a:rPr lang="en-US" b="true" sz="38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Development Environment</a:t>
            </a:r>
          </a:p>
          <a:p>
            <a:pPr algn="just" marL="820422" indent="-410211" lvl="1">
              <a:lnSpc>
                <a:spcPts val="6080"/>
              </a:lnSpc>
              <a:buFont typeface="Arial"/>
              <a:buChar char="•"/>
            </a:pPr>
            <a:r>
              <a:rPr lang="en-US" sz="3800">
                <a:solidFill>
                  <a:srgbClr val="ED94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XAMPP</a:t>
            </a:r>
            <a:r>
              <a:rPr lang="en-US" sz="3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- Local Server</a:t>
            </a:r>
          </a:p>
          <a:p>
            <a:pPr algn="just">
              <a:lnSpc>
                <a:spcPts val="608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846967" y="2940327"/>
            <a:ext cx="1076206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E0C23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HTML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46967" y="3716656"/>
            <a:ext cx="905827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5170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CSS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46967" y="4497070"/>
            <a:ext cx="2154317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C54E2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JavaScript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46967" y="6027846"/>
            <a:ext cx="799743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6E81B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PHP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46967" y="7560101"/>
            <a:ext cx="583049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00669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30016" y="7588676"/>
            <a:ext cx="852249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E48E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SQL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46967" y="9120931"/>
            <a:ext cx="1478637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F26D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XAMPP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35675" y="2060328"/>
            <a:ext cx="7816650" cy="7583678"/>
          </a:xfrm>
          <a:custGeom>
            <a:avLst/>
            <a:gdLst/>
            <a:ahLst/>
            <a:cxnLst/>
            <a:rect r="r" b="b" t="t" l="l"/>
            <a:pathLst>
              <a:path h="7583678" w="7816650">
                <a:moveTo>
                  <a:pt x="0" y="0"/>
                </a:moveTo>
                <a:lnTo>
                  <a:pt x="7816650" y="0"/>
                </a:lnTo>
                <a:lnTo>
                  <a:pt x="7816650" y="7583678"/>
                </a:lnTo>
                <a:lnTo>
                  <a:pt x="0" y="7583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93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3311" y="348615"/>
            <a:ext cx="11342251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Devel</a:t>
            </a:r>
            <a:r>
              <a:rPr lang="en-US" b="true" sz="72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opment Methodology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5878" y="2044354"/>
            <a:ext cx="9363651" cy="4680803"/>
          </a:xfrm>
          <a:custGeom>
            <a:avLst/>
            <a:gdLst/>
            <a:ahLst/>
            <a:cxnLst/>
            <a:rect r="r" b="b" t="t" l="l"/>
            <a:pathLst>
              <a:path h="4680803" w="9363651">
                <a:moveTo>
                  <a:pt x="0" y="0"/>
                </a:moveTo>
                <a:lnTo>
                  <a:pt x="9363650" y="0"/>
                </a:lnTo>
                <a:lnTo>
                  <a:pt x="9363650" y="4680802"/>
                </a:lnTo>
                <a:lnTo>
                  <a:pt x="0" y="4680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167" t="0" r="-616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14989" y="5228915"/>
            <a:ext cx="2818174" cy="2671475"/>
          </a:xfrm>
          <a:custGeom>
            <a:avLst/>
            <a:gdLst/>
            <a:ahLst/>
            <a:cxnLst/>
            <a:rect r="r" b="b" t="t" l="l"/>
            <a:pathLst>
              <a:path h="2671475" w="2818174">
                <a:moveTo>
                  <a:pt x="0" y="0"/>
                </a:moveTo>
                <a:lnTo>
                  <a:pt x="2818174" y="0"/>
                </a:lnTo>
                <a:lnTo>
                  <a:pt x="2818174" y="2671475"/>
                </a:lnTo>
                <a:lnTo>
                  <a:pt x="0" y="26714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6658481"/>
            <a:ext cx="9684710" cy="3258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</a:t>
            </a:r>
            <a:r>
              <a:rPr lang="en-US" sz="36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database stores:</a:t>
            </a:r>
          </a:p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</a:t>
            </a:r>
            <a:r>
              <a:rPr lang="en-US" sz="36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ser information</a:t>
            </a:r>
          </a:p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Hardware data </a:t>
            </a:r>
          </a:p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Benchmark scores</a:t>
            </a:r>
          </a:p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Saved system configurations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775320" y="2927835"/>
            <a:ext cx="4448756" cy="2301080"/>
          </a:xfrm>
          <a:custGeom>
            <a:avLst/>
            <a:gdLst/>
            <a:ahLst/>
            <a:cxnLst/>
            <a:rect r="r" b="b" t="t" l="l"/>
            <a:pathLst>
              <a:path h="2301080" w="4448756">
                <a:moveTo>
                  <a:pt x="0" y="0"/>
                </a:moveTo>
                <a:lnTo>
                  <a:pt x="4448756" y="0"/>
                </a:lnTo>
                <a:lnTo>
                  <a:pt x="4448756" y="2301080"/>
                </a:lnTo>
                <a:lnTo>
                  <a:pt x="0" y="23010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75878" y="348615"/>
            <a:ext cx="7483554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Database Design 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058833"/>
            <a:ext cx="7273957" cy="4091601"/>
          </a:xfrm>
          <a:custGeom>
            <a:avLst/>
            <a:gdLst/>
            <a:ahLst/>
            <a:cxnLst/>
            <a:rect r="r" b="b" t="t" l="l"/>
            <a:pathLst>
              <a:path h="4091601" w="7273957">
                <a:moveTo>
                  <a:pt x="0" y="0"/>
                </a:moveTo>
                <a:lnTo>
                  <a:pt x="7273957" y="0"/>
                </a:lnTo>
                <a:lnTo>
                  <a:pt x="7273957" y="4091601"/>
                </a:lnTo>
                <a:lnTo>
                  <a:pt x="0" y="40916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85343" y="3058833"/>
            <a:ext cx="7273957" cy="4091601"/>
          </a:xfrm>
          <a:custGeom>
            <a:avLst/>
            <a:gdLst/>
            <a:ahLst/>
            <a:cxnLst/>
            <a:rect r="r" b="b" t="t" l="l"/>
            <a:pathLst>
              <a:path h="4091601" w="7273957">
                <a:moveTo>
                  <a:pt x="0" y="0"/>
                </a:moveTo>
                <a:lnTo>
                  <a:pt x="7273957" y="0"/>
                </a:lnTo>
                <a:lnTo>
                  <a:pt x="7273957" y="4091601"/>
                </a:lnTo>
                <a:lnTo>
                  <a:pt x="0" y="4091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275" t="-3037" r="-9406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8397" y="348615"/>
            <a:ext cx="6101834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</a:t>
            </a:r>
            <a:r>
              <a:rPr lang="en-US" b="true" sz="72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ain Features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1818" y="1860335"/>
            <a:ext cx="8481766" cy="151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b="true" sz="479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🔐</a:t>
            </a:r>
            <a:r>
              <a:rPr lang="en-US" b="true" sz="479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User Login &amp; Signup Pages</a:t>
            </a:r>
          </a:p>
          <a:p>
            <a:pPr algn="l">
              <a:lnSpc>
                <a:spcPts val="531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77197" y="3071149"/>
            <a:ext cx="7133605" cy="6590563"/>
          </a:xfrm>
          <a:custGeom>
            <a:avLst/>
            <a:gdLst/>
            <a:ahLst/>
            <a:cxnLst/>
            <a:rect r="r" b="b" t="t" l="l"/>
            <a:pathLst>
              <a:path h="6590563" w="7133605">
                <a:moveTo>
                  <a:pt x="0" y="0"/>
                </a:moveTo>
                <a:lnTo>
                  <a:pt x="7133606" y="0"/>
                </a:lnTo>
                <a:lnTo>
                  <a:pt x="7133606" y="6590563"/>
                </a:lnTo>
                <a:lnTo>
                  <a:pt x="0" y="65905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8397" y="348615"/>
            <a:ext cx="6101834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</a:t>
            </a:r>
            <a:r>
              <a:rPr lang="en-US" b="true" sz="72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ain Features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860335"/>
            <a:ext cx="6868119" cy="151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b="true" sz="479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👤User Selection Page</a:t>
            </a:r>
          </a:p>
          <a:p>
            <a:pPr algn="l">
              <a:lnSpc>
                <a:spcPts val="53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11786" y="3071149"/>
            <a:ext cx="9912664" cy="6590563"/>
          </a:xfrm>
          <a:custGeom>
            <a:avLst/>
            <a:gdLst/>
            <a:ahLst/>
            <a:cxnLst/>
            <a:rect r="r" b="b" t="t" l="l"/>
            <a:pathLst>
              <a:path h="6590563" w="9912664">
                <a:moveTo>
                  <a:pt x="0" y="0"/>
                </a:moveTo>
                <a:lnTo>
                  <a:pt x="9912664" y="0"/>
                </a:lnTo>
                <a:lnTo>
                  <a:pt x="9912664" y="6590563"/>
                </a:lnTo>
                <a:lnTo>
                  <a:pt x="0" y="65905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65" t="-1024" r="0" b="-102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8397" y="348615"/>
            <a:ext cx="6101834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</a:t>
            </a:r>
            <a:r>
              <a:rPr lang="en-US" b="true" sz="72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ain Features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860335"/>
            <a:ext cx="5359718" cy="151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b="true" sz="479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🎮Game Selection</a:t>
            </a:r>
          </a:p>
          <a:p>
            <a:pPr algn="l">
              <a:lnSpc>
                <a:spcPts val="53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8397" y="348615"/>
            <a:ext cx="6101834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</a:t>
            </a:r>
            <a:r>
              <a:rPr lang="en-US" b="true" sz="72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ain Features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860335"/>
            <a:ext cx="6458069" cy="151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b="true" sz="479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🖥️Hardware Selection</a:t>
            </a:r>
          </a:p>
          <a:p>
            <a:pPr algn="l">
              <a:lnSpc>
                <a:spcPts val="5319"/>
              </a:lnSpc>
              <a:spcBef>
                <a:spcPct val="0"/>
              </a:spcBef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3124620"/>
            <a:ext cx="4525353" cy="6133680"/>
            <a:chOff x="0" y="0"/>
            <a:chExt cx="6033804" cy="81782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699992"/>
              <a:ext cx="6033804" cy="7478248"/>
            </a:xfrm>
            <a:custGeom>
              <a:avLst/>
              <a:gdLst/>
              <a:ahLst/>
              <a:cxnLst/>
              <a:rect r="r" b="b" t="t" l="l"/>
              <a:pathLst>
                <a:path h="7478248" w="6033804">
                  <a:moveTo>
                    <a:pt x="0" y="0"/>
                  </a:moveTo>
                  <a:lnTo>
                    <a:pt x="6033804" y="0"/>
                  </a:lnTo>
                  <a:lnTo>
                    <a:pt x="6033804" y="7478248"/>
                  </a:lnTo>
                  <a:lnTo>
                    <a:pt x="0" y="7478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10" t="-461" r="-71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17066" y="-85725"/>
              <a:ext cx="1340644" cy="9340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  <a:spcBef>
                  <a:spcPct val="0"/>
                </a:spcBef>
              </a:pPr>
              <a:r>
                <a:rPr lang="en-US" sz="4200">
                  <a:solidFill>
                    <a:srgbClr val="5170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CPU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061307" y="3124620"/>
            <a:ext cx="4165386" cy="5779770"/>
            <a:chOff x="0" y="0"/>
            <a:chExt cx="5553848" cy="7706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848360"/>
              <a:ext cx="5553848" cy="6858000"/>
            </a:xfrm>
            <a:custGeom>
              <a:avLst/>
              <a:gdLst/>
              <a:ahLst/>
              <a:cxnLst/>
              <a:rect r="r" b="b" t="t" l="l"/>
              <a:pathLst>
                <a:path h="6858000" w="5553848">
                  <a:moveTo>
                    <a:pt x="0" y="0"/>
                  </a:moveTo>
                  <a:lnTo>
                    <a:pt x="5553848" y="0"/>
                  </a:lnTo>
                  <a:lnTo>
                    <a:pt x="55538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15" t="0" r="-515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-85725"/>
              <a:ext cx="1384776" cy="9340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  <a:spcBef>
                  <a:spcPct val="0"/>
                </a:spcBef>
              </a:pPr>
              <a:r>
                <a:rPr lang="en-US" sz="4200">
                  <a:solidFill>
                    <a:srgbClr val="5170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GPU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324599" y="3124620"/>
            <a:ext cx="4934701" cy="3592571"/>
            <a:chOff x="0" y="0"/>
            <a:chExt cx="6579601" cy="47900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848360"/>
              <a:ext cx="6579601" cy="3941734"/>
            </a:xfrm>
            <a:custGeom>
              <a:avLst/>
              <a:gdLst/>
              <a:ahLst/>
              <a:cxnLst/>
              <a:rect r="r" b="b" t="t" l="l"/>
              <a:pathLst>
                <a:path h="3941734" w="6579601">
                  <a:moveTo>
                    <a:pt x="0" y="0"/>
                  </a:moveTo>
                  <a:lnTo>
                    <a:pt x="6579601" y="0"/>
                  </a:lnTo>
                  <a:lnTo>
                    <a:pt x="6579601" y="3941734"/>
                  </a:lnTo>
                  <a:lnTo>
                    <a:pt x="0" y="3941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881" t="0" r="-4881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0" y="-85725"/>
              <a:ext cx="1382712" cy="9340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80"/>
                </a:lnSpc>
                <a:spcBef>
                  <a:spcPct val="0"/>
                </a:spcBef>
              </a:pPr>
              <a:r>
                <a:rPr lang="en-US" sz="4200">
                  <a:solidFill>
                    <a:srgbClr val="5170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RAM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5839" y="3060845"/>
            <a:ext cx="5554392" cy="6356958"/>
          </a:xfrm>
          <a:custGeom>
            <a:avLst/>
            <a:gdLst/>
            <a:ahLst/>
            <a:cxnLst/>
            <a:rect r="r" b="b" t="t" l="l"/>
            <a:pathLst>
              <a:path h="6356958" w="5554392">
                <a:moveTo>
                  <a:pt x="0" y="0"/>
                </a:moveTo>
                <a:lnTo>
                  <a:pt x="5554392" y="0"/>
                </a:lnTo>
                <a:lnTo>
                  <a:pt x="5554392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04625" y="3060845"/>
            <a:ext cx="8654675" cy="5552307"/>
          </a:xfrm>
          <a:custGeom>
            <a:avLst/>
            <a:gdLst/>
            <a:ahLst/>
            <a:cxnLst/>
            <a:rect r="r" b="b" t="t" l="l"/>
            <a:pathLst>
              <a:path h="5552307" w="8654675">
                <a:moveTo>
                  <a:pt x="0" y="0"/>
                </a:moveTo>
                <a:lnTo>
                  <a:pt x="8654675" y="0"/>
                </a:lnTo>
                <a:lnTo>
                  <a:pt x="8654675" y="5552307"/>
                </a:lnTo>
                <a:lnTo>
                  <a:pt x="0" y="555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8397" y="348615"/>
            <a:ext cx="6101834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</a:t>
            </a:r>
            <a:r>
              <a:rPr lang="en-US" b="true" sz="72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ain Features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869860"/>
            <a:ext cx="5185886" cy="2286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2"/>
              </a:lnSpc>
            </a:pPr>
            <a:r>
              <a:rPr lang="en-US" sz="4572" b="tru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📊System Analysis</a:t>
            </a:r>
          </a:p>
          <a:p>
            <a:pPr algn="l">
              <a:lnSpc>
                <a:spcPts val="6719"/>
              </a:lnSpc>
              <a:spcBef>
                <a:spcPct val="0"/>
              </a:spcBef>
            </a:pPr>
          </a:p>
          <a:p>
            <a:pPr algn="l">
              <a:lnSpc>
                <a:spcPts val="506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49846" y="2927855"/>
            <a:ext cx="7188309" cy="6495460"/>
          </a:xfrm>
          <a:custGeom>
            <a:avLst/>
            <a:gdLst/>
            <a:ahLst/>
            <a:cxnLst/>
            <a:rect r="r" b="b" t="t" l="l"/>
            <a:pathLst>
              <a:path h="6495460" w="7188309">
                <a:moveTo>
                  <a:pt x="0" y="0"/>
                </a:moveTo>
                <a:lnTo>
                  <a:pt x="7188308" y="0"/>
                </a:lnTo>
                <a:lnTo>
                  <a:pt x="7188308" y="6495460"/>
                </a:lnTo>
                <a:lnTo>
                  <a:pt x="0" y="6495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8397" y="348615"/>
            <a:ext cx="6101834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</a:t>
            </a:r>
            <a:r>
              <a:rPr lang="en-US" b="true" sz="72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ain Features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869860"/>
            <a:ext cx="4905494" cy="1438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2"/>
              </a:lnSpc>
              <a:spcBef>
                <a:spcPct val="0"/>
              </a:spcBef>
            </a:pPr>
            <a:r>
              <a:rPr lang="en-US" b="true" sz="4572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💾Saved Systems</a:t>
            </a:r>
          </a:p>
          <a:p>
            <a:pPr algn="l">
              <a:lnSpc>
                <a:spcPts val="506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06854" y="2968747"/>
            <a:ext cx="8874293" cy="6070363"/>
          </a:xfrm>
          <a:custGeom>
            <a:avLst/>
            <a:gdLst/>
            <a:ahLst/>
            <a:cxnLst/>
            <a:rect r="r" b="b" t="t" l="l"/>
            <a:pathLst>
              <a:path h="6070363" w="8874293">
                <a:moveTo>
                  <a:pt x="0" y="0"/>
                </a:moveTo>
                <a:lnTo>
                  <a:pt x="8874292" y="0"/>
                </a:lnTo>
                <a:lnTo>
                  <a:pt x="8874292" y="6070363"/>
                </a:lnTo>
                <a:lnTo>
                  <a:pt x="0" y="60703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8397" y="348615"/>
            <a:ext cx="6101834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</a:t>
            </a:r>
            <a:r>
              <a:rPr lang="en-US" b="true" sz="72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ain Features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869860"/>
            <a:ext cx="4227790" cy="1438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2"/>
              </a:lnSpc>
              <a:spcBef>
                <a:spcPct val="0"/>
              </a:spcBef>
            </a:pPr>
            <a:r>
              <a:rPr lang="en-US" b="true" sz="4572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✏️Edit Systems</a:t>
            </a:r>
          </a:p>
          <a:p>
            <a:pPr algn="l">
              <a:lnSpc>
                <a:spcPts val="506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075308"/>
            <a:ext cx="6100861" cy="4132143"/>
          </a:xfrm>
          <a:custGeom>
            <a:avLst/>
            <a:gdLst/>
            <a:ahLst/>
            <a:cxnLst/>
            <a:rect r="r" b="b" t="t" l="l"/>
            <a:pathLst>
              <a:path h="4132143" w="6100861">
                <a:moveTo>
                  <a:pt x="0" y="0"/>
                </a:moveTo>
                <a:lnTo>
                  <a:pt x="6100861" y="0"/>
                </a:lnTo>
                <a:lnTo>
                  <a:pt x="6100861" y="4132143"/>
                </a:lnTo>
                <a:lnTo>
                  <a:pt x="0" y="41321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420705" y="2075308"/>
            <a:ext cx="5139758" cy="4132143"/>
          </a:xfrm>
          <a:custGeom>
            <a:avLst/>
            <a:gdLst/>
            <a:ahLst/>
            <a:cxnLst/>
            <a:rect r="r" b="b" t="t" l="l"/>
            <a:pathLst>
              <a:path h="4132143" w="5139758">
                <a:moveTo>
                  <a:pt x="0" y="0"/>
                </a:moveTo>
                <a:lnTo>
                  <a:pt x="5139757" y="0"/>
                </a:lnTo>
                <a:lnTo>
                  <a:pt x="5139757" y="4132143"/>
                </a:lnTo>
                <a:lnTo>
                  <a:pt x="0" y="41321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55737" y="2075308"/>
            <a:ext cx="4596268" cy="4398834"/>
          </a:xfrm>
          <a:custGeom>
            <a:avLst/>
            <a:gdLst/>
            <a:ahLst/>
            <a:cxnLst/>
            <a:rect r="r" b="b" t="t" l="l"/>
            <a:pathLst>
              <a:path h="4398834" w="4596268">
                <a:moveTo>
                  <a:pt x="0" y="0"/>
                </a:moveTo>
                <a:lnTo>
                  <a:pt x="4596269" y="0"/>
                </a:lnTo>
                <a:lnTo>
                  <a:pt x="4596269" y="4398834"/>
                </a:lnTo>
                <a:lnTo>
                  <a:pt x="0" y="43988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48235" y="348615"/>
            <a:ext cx="8035805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Security Features</a:t>
            </a:r>
          </a:p>
        </p:txBody>
      </p:sp>
    </p:spTree>
  </p:cSld>
  <p:clrMapOvr>
    <a:masterClrMapping/>
  </p:clrMapOvr>
  <p:transition spd="slow">
    <p:push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2405903" y="2405903"/>
          <a:ext cx="3771900" cy="3771900"/>
        </p:xfrm>
        <a:graphic>
          <a:graphicData uri="http://schemas.openxmlformats.org/presentationml/2006/ole">
            <p:oleObj imgW="4521200" imgH="4521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537882" y="348615"/>
            <a:ext cx="11173452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Challenges and Solutions</a:t>
            </a:r>
          </a:p>
        </p:txBody>
      </p:sp>
    </p:spTree>
  </p:cSld>
  <p:clrMapOvr>
    <a:masterClrMapping/>
  </p:clrMapOvr>
  <p:transition spd="slow">
    <p:push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96787" y="3194838"/>
            <a:ext cx="8094427" cy="6063462"/>
          </a:xfrm>
          <a:custGeom>
            <a:avLst/>
            <a:gdLst/>
            <a:ahLst/>
            <a:cxnLst/>
            <a:rect r="r" b="b" t="t" l="l"/>
            <a:pathLst>
              <a:path h="6063462" w="8094427">
                <a:moveTo>
                  <a:pt x="0" y="0"/>
                </a:moveTo>
                <a:lnTo>
                  <a:pt x="8094426" y="0"/>
                </a:lnTo>
                <a:lnTo>
                  <a:pt x="8094426" y="6063462"/>
                </a:lnTo>
                <a:lnTo>
                  <a:pt x="0" y="60634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028700" y="1894066"/>
            <a:ext cx="4052069" cy="1580307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694765" y="348615"/>
            <a:ext cx="8259923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Live Demonstration</a:t>
            </a:r>
          </a:p>
        </p:txBody>
      </p:sp>
    </p:spTree>
  </p:cSld>
  <p:clrMapOvr>
    <a:masterClrMapping/>
  </p:clrMapOvr>
  <p:transition spd="slow">
    <p:push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87359" y="2221118"/>
            <a:ext cx="2389094" cy="2389094"/>
          </a:xfrm>
          <a:custGeom>
            <a:avLst/>
            <a:gdLst/>
            <a:ahLst/>
            <a:cxnLst/>
            <a:rect r="r" b="b" t="t" l="l"/>
            <a:pathLst>
              <a:path h="2389094" w="2389094">
                <a:moveTo>
                  <a:pt x="0" y="0"/>
                </a:moveTo>
                <a:lnTo>
                  <a:pt x="2389094" y="0"/>
                </a:lnTo>
                <a:lnTo>
                  <a:pt x="2389094" y="2389094"/>
                </a:lnTo>
                <a:lnTo>
                  <a:pt x="0" y="2389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01298" y="4439173"/>
            <a:ext cx="2658002" cy="2044245"/>
          </a:xfrm>
          <a:custGeom>
            <a:avLst/>
            <a:gdLst/>
            <a:ahLst/>
            <a:cxnLst/>
            <a:rect r="r" b="b" t="t" l="l"/>
            <a:pathLst>
              <a:path h="2044245" w="2658002">
                <a:moveTo>
                  <a:pt x="0" y="0"/>
                </a:moveTo>
                <a:lnTo>
                  <a:pt x="2658002" y="0"/>
                </a:lnTo>
                <a:lnTo>
                  <a:pt x="2658002" y="2044245"/>
                </a:lnTo>
                <a:lnTo>
                  <a:pt x="0" y="20442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74059" y="348615"/>
            <a:ext cx="8932275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Future Improvements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4059" y="2078243"/>
            <a:ext cx="8959453" cy="4578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1" indent="-410210" lvl="1">
              <a:lnSpc>
                <a:spcPts val="608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FPS prediction system</a:t>
            </a:r>
          </a:p>
          <a:p>
            <a:pPr algn="l" marL="820421" indent="-410210" lvl="1">
              <a:lnSpc>
                <a:spcPts val="608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AI-based recommendations</a:t>
            </a:r>
          </a:p>
          <a:p>
            <a:pPr algn="l" marL="820421" indent="-410210" lvl="1">
              <a:lnSpc>
                <a:spcPts val="608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</a:t>
            </a:r>
            <a:r>
              <a:rPr lang="en-US" sz="3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obile version of the application</a:t>
            </a:r>
          </a:p>
          <a:p>
            <a:pPr algn="l" marL="820421" indent="-410210" lvl="1">
              <a:lnSpc>
                <a:spcPts val="608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Cloud storage integration</a:t>
            </a:r>
          </a:p>
          <a:p>
            <a:pPr algn="l" marL="820421" indent="-410210" lvl="1">
              <a:lnSpc>
                <a:spcPts val="608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More games and hardware support</a:t>
            </a:r>
          </a:p>
          <a:p>
            <a:pPr algn="l" marL="820421" indent="-410210" lvl="1">
              <a:lnSpc>
                <a:spcPts val="608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Real-time APIs and benchmark updates</a:t>
            </a:r>
          </a:p>
        </p:txBody>
      </p:sp>
    </p:spTree>
  </p:cSld>
  <p:clrMapOvr>
    <a:masterClrMapping/>
  </p:clrMapOvr>
  <p:transition spd="slow">
    <p:push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28298" y="5773145"/>
            <a:ext cx="5231002" cy="3485155"/>
          </a:xfrm>
          <a:custGeom>
            <a:avLst/>
            <a:gdLst/>
            <a:ahLst/>
            <a:cxnLst/>
            <a:rect r="r" b="b" t="t" l="l"/>
            <a:pathLst>
              <a:path h="3485155" w="5231002">
                <a:moveTo>
                  <a:pt x="0" y="0"/>
                </a:moveTo>
                <a:lnTo>
                  <a:pt x="5231002" y="0"/>
                </a:lnTo>
                <a:lnTo>
                  <a:pt x="5231002" y="3485155"/>
                </a:lnTo>
                <a:lnTo>
                  <a:pt x="0" y="34851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4765" y="348615"/>
            <a:ext cx="4830923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94765" y="2078243"/>
            <a:ext cx="12347734" cy="4578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1" indent="-410210" lvl="1">
              <a:lnSpc>
                <a:spcPts val="608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Successfully dev</a:t>
            </a:r>
            <a:r>
              <a:rPr lang="en-US" sz="3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eloped a</a:t>
            </a:r>
            <a:r>
              <a:rPr lang="en-US" sz="3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dynamic web application ✅</a:t>
            </a:r>
          </a:p>
          <a:p>
            <a:pPr algn="l" marL="820421" indent="-410210" lvl="1">
              <a:lnSpc>
                <a:spcPts val="608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Combined benchmark data and game requirements ✅</a:t>
            </a:r>
          </a:p>
          <a:p>
            <a:pPr algn="l" marL="820421" indent="-410210" lvl="1">
              <a:lnSpc>
                <a:spcPts val="608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Simplified gaming hardware analysis ✅</a:t>
            </a:r>
          </a:p>
          <a:p>
            <a:pPr algn="l" marL="820421" indent="-410210" lvl="1">
              <a:lnSpc>
                <a:spcPts val="608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Provided upgrade recommendations ✅</a:t>
            </a:r>
          </a:p>
          <a:p>
            <a:pPr algn="l" marL="820421" indent="-410210" lvl="1">
              <a:lnSpc>
                <a:spcPts val="608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Achieved the project objectives ✅</a:t>
            </a:r>
          </a:p>
          <a:p>
            <a:pPr algn="l">
              <a:lnSpc>
                <a:spcPts val="6080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42882" y="1745846"/>
            <a:ext cx="8402235" cy="6795308"/>
          </a:xfrm>
          <a:custGeom>
            <a:avLst/>
            <a:gdLst/>
            <a:ahLst/>
            <a:cxnLst/>
            <a:rect r="r" b="b" t="t" l="l"/>
            <a:pathLst>
              <a:path h="6795308" w="8402235">
                <a:moveTo>
                  <a:pt x="0" y="0"/>
                </a:moveTo>
                <a:lnTo>
                  <a:pt x="8402236" y="0"/>
                </a:lnTo>
                <a:lnTo>
                  <a:pt x="8402236" y="6795308"/>
                </a:lnTo>
                <a:lnTo>
                  <a:pt x="0" y="67953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4765" y="348615"/>
            <a:ext cx="4830923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Questions?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DAHKPj5Ws04</dc:identifier>
  <dcterms:modified xsi:type="dcterms:W3CDTF">2011-08-01T06:04:30Z</dcterms:modified>
  <cp:revision>1</cp:revision>
  <dc:title>Game Performace Web Application</dc:title>
</cp:coreProperties>
</file>